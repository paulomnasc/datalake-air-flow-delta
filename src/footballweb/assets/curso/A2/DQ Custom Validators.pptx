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QYqLgrfwtGkYGWxY/E2K2VGbt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89D6DD-B337-4DAC-B115-CF7B7B0F0006}">
  <a:tblStyle styleId="{DF89D6DD-B337-4DAC-B115-CF7B7B0F0006}" styleName="Table_0">
    <a:wholeTbl>
      <a:tcTxStyle b="off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BEA"/>
          </a:solidFill>
        </a:fill>
      </a:tcStyle>
    </a:wholeTbl>
    <a:band1H>
      <a:tcTxStyle/>
      <a:tcStyle>
        <a:tcBdr/>
        <a:fill>
          <a:solidFill>
            <a:srgbClr val="E0D4D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D4D1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>
          <a:extLst>
            <a:ext uri="{FF2B5EF4-FFF2-40B4-BE49-F238E27FC236}">
              <a16:creationId xmlns:a16="http://schemas.microsoft.com/office/drawing/2014/main" id="{ABF603BE-1C3C-6499-A8A1-C4F6EEFF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>
            <a:extLst>
              <a:ext uri="{FF2B5EF4-FFF2-40B4-BE49-F238E27FC236}">
                <a16:creationId xmlns:a16="http://schemas.microsoft.com/office/drawing/2014/main" id="{887CF8EA-27FF-926F-9E52-F9877A550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:notes">
            <a:extLst>
              <a:ext uri="{FF2B5EF4-FFF2-40B4-BE49-F238E27FC236}">
                <a16:creationId xmlns:a16="http://schemas.microsoft.com/office/drawing/2014/main" id="{B00B057A-73C7-55EB-B30C-97A57BD06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331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 type="title">
  <p:cSld name="TITLE">
    <p:bg>
      <p:bgPr>
        <a:solidFill>
          <a:schemeClr val="dk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"/>
              <a:buNone/>
              <a:defRPr sz="5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  <a:defRPr sz="9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b2MESMEBHV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estudotabela.com.br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"/>
              <a:buNone/>
            </a:pPr>
            <a:r>
              <a:rPr lang="pt-BR"/>
              <a:t>Customizando uma validação na Silver com MyDataFlow</a:t>
            </a:r>
            <a:endParaRPr/>
          </a:p>
        </p:txBody>
      </p:sp>
      <p:sp>
        <p:nvSpPr>
          <p:cNvPr id="28" name="Google Shape;28;p1"/>
          <p:cNvSpPr txBox="1"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None/>
            </a:pPr>
            <a:r>
              <a:rPr lang="pt-BR" dirty="0"/>
              <a:t>Pré-requisitos : </a:t>
            </a:r>
            <a:br>
              <a:rPr lang="pt-BR" dirty="0"/>
            </a:br>
            <a:r>
              <a:rPr lang="pt-BR" dirty="0"/>
              <a:t>1) Conhecimentos da linguagem Python e de Orientação a Objetos;</a:t>
            </a:r>
            <a:br>
              <a:rPr lang="pt-BR" dirty="0"/>
            </a:br>
            <a:r>
              <a:rPr lang="pt-BR" dirty="0"/>
              <a:t>2) Ter assistido o vídeo do passo a passo explicativo fluxo básico com </a:t>
            </a:r>
            <a:r>
              <a:rPr lang="pt-BR" dirty="0" err="1"/>
              <a:t>MyDataFlow</a:t>
            </a:r>
            <a:r>
              <a:rPr lang="pt-BR" dirty="0"/>
              <a:t> no endereço :</a:t>
            </a:r>
            <a:br>
              <a:rPr lang="pt-BR" dirty="0"/>
            </a:br>
            <a:r>
              <a:rPr lang="pt-BR" u="sng" dirty="0">
                <a:solidFill>
                  <a:schemeClr val="hlink"/>
                </a:solidFill>
                <a:hlinkClick r:id="rId3"/>
              </a:rPr>
              <a:t>https://youtu.be/b2MESMEBHVk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566289" cy="73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 dirty="0"/>
              <a:t>Por quê usar o </a:t>
            </a:r>
            <a:r>
              <a:rPr lang="pt-BR" sz="4000" dirty="0" err="1"/>
              <a:t>MyDataFlow</a:t>
            </a:r>
            <a:r>
              <a:rPr lang="pt-BR" sz="4000" dirty="0"/>
              <a:t> nesse </a:t>
            </a:r>
            <a:r>
              <a:rPr lang="pt-BR" sz="4000" dirty="0" err="1"/>
              <a:t>Lab</a:t>
            </a:r>
            <a:r>
              <a:rPr lang="pt-BR" sz="4000" dirty="0"/>
              <a:t> ?</a:t>
            </a:r>
            <a:br>
              <a:rPr lang="pt-BR" dirty="0"/>
            </a:br>
            <a:endParaRPr dirty="0"/>
          </a:p>
        </p:txBody>
      </p:sp>
      <p:sp>
        <p:nvSpPr>
          <p:cNvPr id="34" name="Google Shape;34;p2"/>
          <p:cNvSpPr txBox="1"/>
          <p:nvPr/>
        </p:nvSpPr>
        <p:spPr>
          <a:xfrm>
            <a:off x="533400" y="1349828"/>
            <a:ext cx="10233900" cy="418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framework do </a:t>
            </a:r>
            <a:r>
              <a:rPr lang="pt-BR" sz="1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MyDataflow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existe</a:t>
            </a:r>
            <a:r>
              <a:rPr lang="pt-BR" sz="1800" dirty="0">
                <a:solidFill>
                  <a:schemeClr val="lt1"/>
                </a:solidFill>
              </a:rPr>
              <a:t> um ambiente preparado para seu desenvolvimento de pipelines ELT para estudo ou outras finalidades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Acesse e crie seu usuário em : 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 action="ppaction://hlinkfile"/>
              </a:rPr>
              <a:t>estudotabela.com.br</a:t>
            </a: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você já tem pronto 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1. Orquestração de fluxos ELT com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2.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Buckets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S3 compatíveis com AWS para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do medalhão e de scripts;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3. Ambiente de processamento Python embarcado;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4. Ambiente de consultas SQL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adhoc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arquivos tipo parquet no S3;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5.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DAG´s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integrado com seus scripts Python;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6. Versionamento de código fontes com Github;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7. Pipelines padrão de medalhão extensíveis.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>
          <a:extLst>
            <a:ext uri="{FF2B5EF4-FFF2-40B4-BE49-F238E27FC236}">
              <a16:creationId xmlns:a16="http://schemas.microsoft.com/office/drawing/2014/main" id="{F393F74F-2ACA-195E-AB30-50533251C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>
            <a:extLst>
              <a:ext uri="{FF2B5EF4-FFF2-40B4-BE49-F238E27FC236}">
                <a16:creationId xmlns:a16="http://schemas.microsoft.com/office/drawing/2014/main" id="{7B343F3C-534F-7896-BD74-7764C69E3A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566289" cy="73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Herdando a superclasse RawToMedallionPipeline.py</a:t>
            </a:r>
            <a:br>
              <a:rPr lang="pt-BR"/>
            </a:br>
            <a:endParaRPr/>
          </a:p>
        </p:txBody>
      </p:sp>
      <p:sp>
        <p:nvSpPr>
          <p:cNvPr id="34" name="Google Shape;34;p2">
            <a:extLst>
              <a:ext uri="{FF2B5EF4-FFF2-40B4-BE49-F238E27FC236}">
                <a16:creationId xmlns:a16="http://schemas.microsoft.com/office/drawing/2014/main" id="{302AA5A9-8130-E6BB-2A9F-584EC54FBBF7}"/>
              </a:ext>
            </a:extLst>
          </p:cNvPr>
          <p:cNvSpPr txBox="1"/>
          <p:nvPr/>
        </p:nvSpPr>
        <p:spPr>
          <a:xfrm>
            <a:off x="533400" y="1349828"/>
            <a:ext cx="102339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DEFINIÇÃO: </a:t>
            </a: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framework do </a:t>
            </a:r>
            <a:r>
              <a:rPr lang="pt-BR" sz="1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MyDataflow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existe uma classe Python de nome RawToMedallionPipeline.py </a:t>
            </a:r>
            <a:b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que executa o processo </a:t>
            </a:r>
            <a:r>
              <a:rPr lang="pt-BR" sz="1800" dirty="0">
                <a:solidFill>
                  <a:schemeClr val="lt1"/>
                </a:solidFill>
              </a:rPr>
              <a:t>base de processamento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medalhão no serviço do </a:t>
            </a:r>
            <a:r>
              <a:rPr lang="pt-BR" sz="1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Airflow</a:t>
            </a:r>
            <a:r>
              <a:rPr lang="pt-BR" sz="1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Fluxo sincronizado:</a:t>
            </a: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1. __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__() → orquestra todo o fluxo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2. _setup() → inicializa (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tmpdir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hooks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atlas)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3. 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process_bronze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 → cria camada Bronze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4. 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process_silver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 → cria camada Silver + CHAMA HOOK CUSTOMIZADO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5. 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process_gold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 → cria camada Gold + CHAMA HOOK CUSTOMIZADO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6. 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process_delta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 → cria camada Delta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    7. _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cleanup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() → limpa recursos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Vamos iniciar criando uma classe Python que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extende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classe RawToMedallioPipeline.py, para tal baixe o arquivo “meu_validador.py” no link da descrição deste vídeo.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1563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Herdando a superclasse RawToMedallionPipeline.py</a:t>
            </a:r>
            <a:br>
              <a:rPr lang="pt-BR"/>
            </a:br>
            <a:endParaRPr/>
          </a:p>
        </p:txBody>
      </p:sp>
      <p:sp>
        <p:nvSpPr>
          <p:cNvPr id="40" name="Google Shape;40;p3"/>
          <p:cNvSpPr txBox="1"/>
          <p:nvPr/>
        </p:nvSpPr>
        <p:spPr>
          <a:xfrm>
            <a:off x="587827" y="1295400"/>
            <a:ext cx="11244944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from lib.medallion_pipeline_v2 import RawToMedallionPipeline</a:t>
            </a:r>
            <a:endParaRPr sz="2400" i="1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Importa a classe RawToMedallionPipeline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Esta classe será superclasse de MeuValidador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Fornece acesso automático a S3, bucket, tmpdir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VISUALIZAÇÃO: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RawToMedallionPipeline (classe base)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└─ Fornece: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• self.hook      → Conexão com S3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• self.bucket    → Nome do bucket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• self.tmpdir    → Diretório temporário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• Métodos de ciclo de vida (hooks)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Herdando a superclasse RawToMedallionPipeline.py</a:t>
            </a:r>
            <a:br>
              <a:rPr lang="pt-BR"/>
            </a:b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587827" y="1295400"/>
            <a:ext cx="11244944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from lib.medallion_pipeline_v2 import RawToMedallionPipeline</a:t>
            </a:r>
            <a:endParaRPr sz="2400" i="1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BENEFÍCIOS:</a:t>
            </a:r>
            <a:b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✅ Reutilização de código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✅ Sem necessidade de reimplementar S3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✅ Sincronização automática garantida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Importando bibliotecas necessárias</a:t>
            </a:r>
            <a:br>
              <a:rPr lang="pt-BR"/>
            </a:br>
            <a:endParaRPr/>
          </a:p>
        </p:txBody>
      </p:sp>
      <p:sp>
        <p:nvSpPr>
          <p:cNvPr id="52" name="Google Shape;52;p5"/>
          <p:cNvSpPr txBox="1"/>
          <p:nvPr/>
        </p:nvSpPr>
        <p:spPr>
          <a:xfrm>
            <a:off x="587827" y="1295400"/>
            <a:ext cx="11244944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import pandas as pd</a:t>
            </a:r>
            <a:r>
              <a:rPr lang="pt-BR" sz="2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Importa a biblioteca pandas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Renomeia como 'pd' para facilitar uso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Pandas trabalha com DataFrames (tabelas de dados)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MÉTODOS QUE USAREMOS: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pd.read_parquet()  → Ler arquivo Parquet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df.to_parquet()    → Salvar como Parquet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df.columns         → Acessar nomes de colunas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df.loc[]           → Indexação por localização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df.drop()          → Remover colunas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Importando bibliotecas necessárias</a:t>
            </a:r>
            <a:br>
              <a:rPr lang="pt-BR"/>
            </a:br>
            <a:endParaRPr/>
          </a:p>
        </p:txBody>
      </p:sp>
      <p:sp>
        <p:nvSpPr>
          <p:cNvPr id="58" name="Google Shape;58;p6"/>
          <p:cNvSpPr txBox="1"/>
          <p:nvPr/>
        </p:nvSpPr>
        <p:spPr>
          <a:xfrm>
            <a:off x="587827" y="1295400"/>
            <a:ext cx="11244944" cy="489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import pandas as pd</a:t>
            </a:r>
            <a:r>
              <a:rPr lang="pt-BR" sz="24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Importa a biblioteca pandas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Renomeia como 'pd' para facilitar uso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Pandas trabalha com DataFrames (tabelas de dados)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MÉTODOS QUE USAREMOS: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pd.read_parquet()  → Ler arquivo Parquet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df.to_parquet()    → Salvar como Parquet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df.columns         → Acessar nomes de colunas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df.loc[]           → Indexação por localização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• df.drop()          → Remover colunas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Importando bibliotecas necessárias</a:t>
            </a:r>
            <a:br>
              <a:rPr lang="pt-BR"/>
            </a:br>
            <a:endParaRPr/>
          </a:p>
        </p:txBody>
      </p:sp>
      <p:sp>
        <p:nvSpPr>
          <p:cNvPr id="64" name="Google Shape;64;p7"/>
          <p:cNvSpPr txBox="1"/>
          <p:nvPr/>
        </p:nvSpPr>
        <p:spPr>
          <a:xfrm>
            <a:off x="587827" y="1295400"/>
            <a:ext cx="11244944" cy="4616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import logging</a:t>
            </a:r>
            <a:endParaRPr sz="24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Importa módulo de logging do Python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Permite registrar mensagens durante execução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Essencial para rastreamento e debugging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NÍVEIS DE LOG: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DEBUG → Detalhes para debug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INFO → Informações (ℹ️ tudo OK)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WARNING → Aviso (⚠️ atenção)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ERROR → Erro (❌ problema)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CRITICAL → Crítico (🔴 parou)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Importando bibliotecas necessárias</a:t>
            </a:r>
            <a:br>
              <a:rPr lang="pt-BR"/>
            </a:b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587827" y="1295400"/>
            <a:ext cx="11244944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import logging</a:t>
            </a:r>
            <a:endParaRPr sz="2400" i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EXEMPLO: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log.info('Processamento iniciado’)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log.warning('Campo vazio encontrado’)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log.error('Erro ao ler arquivo')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Entendendo os métodos</a:t>
            </a:r>
            <a:br>
              <a:rPr lang="pt-BR"/>
            </a:b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587827" y="1295400"/>
            <a:ext cx="11244944" cy="350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 silver_layer_transform(self, silver_key: str) -&gt; str: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Este é um HOOK (gancho) do pipeline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O MyDataFlow chama automaticamente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Recebe o caminho S3 do arquivo Silver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Retorna o caminho após processar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Entendendo os métodos</a:t>
            </a:r>
            <a:br>
              <a:rPr lang="pt-BR"/>
            </a:br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587827" y="1295400"/>
            <a:ext cx="11244944" cy="3785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 silver_layer_transform(self, silver_key: str) -&gt; str: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df = pd.read_parquet(local_file)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FAZ: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Lê arquivo Parquet local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Carrega em memória como DataFrame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✓ df agora é uma tabela de dados em Python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Entendendo os métodos</a:t>
            </a:r>
            <a:br>
              <a:rPr lang="pt-BR"/>
            </a:b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587827" y="1295400"/>
            <a:ext cx="11244944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</a:t>
            </a:r>
            <a:r>
              <a:rPr lang="pt-BR" sz="2400" i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 i="1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silver_layer_transform</a:t>
            </a:r>
            <a:r>
              <a:rPr lang="pt-BR" sz="2400" i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(self, </a:t>
            </a:r>
            <a:r>
              <a:rPr lang="pt-BR" sz="2400" i="1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silver_key</a:t>
            </a:r>
            <a:r>
              <a:rPr lang="pt-BR" sz="2400" i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pt-BR" sz="2400" i="1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pt-BR" sz="2400" i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) -&gt; </a:t>
            </a:r>
            <a:r>
              <a:rPr lang="pt-BR" sz="2400" i="1" dirty="0" err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lang="pt-BR" sz="2400" i="1" dirty="0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OBS: Baixar o arquivo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Invoice.json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consta no link da descrição desta videoaula.</a:t>
            </a: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ANTES (exemplo):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Arquivo: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clientes.parquet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↓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df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1"/>
          <p:cNvGraphicFramePr/>
          <p:nvPr>
            <p:extLst>
              <p:ext uri="{D42A27DB-BD31-4B8C-83A1-F6EECF244321}">
                <p14:modId xmlns:p14="http://schemas.microsoft.com/office/powerpoint/2010/main" val="1956097937"/>
              </p:ext>
            </p:extLst>
          </p:nvPr>
        </p:nvGraphicFramePr>
        <p:xfrm>
          <a:off x="1052285" y="4079240"/>
          <a:ext cx="10410375" cy="1483400"/>
        </p:xfrm>
        <a:graphic>
          <a:graphicData uri="http://schemas.openxmlformats.org/drawingml/2006/table">
            <a:tbl>
              <a:tblPr firstRow="1" bandRow="1">
                <a:tableStyleId>{DF89D6DD-B337-4DAC-B115-CF7B7B0F0006}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strike="noStrike" cap="none"/>
                        <a:t>Id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Email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billingpostalcode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João Silva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joao@example.com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12345-678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2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Maria J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maria@example.com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null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Carlos 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carlos@example.com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87654-321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Entendendo os métodos</a:t>
            </a:r>
            <a:br>
              <a:rPr lang="pt-BR"/>
            </a:br>
            <a:endParaRPr/>
          </a:p>
        </p:txBody>
      </p:sp>
      <p:sp>
        <p:nvSpPr>
          <p:cNvPr id="95" name="Google Shape;95;p12"/>
          <p:cNvSpPr txBox="1"/>
          <p:nvPr/>
        </p:nvSpPr>
        <p:spPr>
          <a:xfrm>
            <a:off x="587827" y="1295400"/>
            <a:ext cx="11244944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i="1">
                <a:solidFill>
                  <a:schemeClr val="dk1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def silver_layer_transform(self, silver_key: str) -&gt; str: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DEPOIS (exemplo):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Arquivo: clientes.parquet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  ↓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df = </a:t>
            </a: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" name="Google Shape;96;p12"/>
          <p:cNvGraphicFramePr/>
          <p:nvPr>
            <p:extLst>
              <p:ext uri="{D42A27DB-BD31-4B8C-83A1-F6EECF244321}">
                <p14:modId xmlns:p14="http://schemas.microsoft.com/office/powerpoint/2010/main" val="538758143"/>
              </p:ext>
            </p:extLst>
          </p:nvPr>
        </p:nvGraphicFramePr>
        <p:xfrm>
          <a:off x="1052285" y="4079240"/>
          <a:ext cx="10410375" cy="1483400"/>
        </p:xfrm>
        <a:graphic>
          <a:graphicData uri="http://schemas.openxmlformats.org/drawingml/2006/table">
            <a:tbl>
              <a:tblPr firstRow="1" bandRow="1">
                <a:tableStyleId>{DF89D6DD-B337-4DAC-B115-CF7B7B0F0006}</a:tableStyleId>
              </a:tblPr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1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3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Id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Nome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Email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billingpostalcode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1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João Silva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joao@example.com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12345-678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2</a:t>
                      </a:r>
                      <a:endParaRPr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Maria J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maria@example.com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None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3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Carlos O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/>
                        <a:t>carlos@example.com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dirty="0"/>
                        <a:t>87654-321</a:t>
                      </a:r>
                      <a:endParaRPr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Mão na massa:</a:t>
            </a:r>
            <a:br>
              <a:rPr lang="pt-BR"/>
            </a:b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87827" y="1295400"/>
            <a:ext cx="11244944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Crie um repositório seu no github com pelo menos 1 arquivo read.me na raiz do projeto;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Crie um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acess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token [Tipo = Personal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tokens (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classic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)] para seu repositório criado; 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Entrar no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MyDataFlow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&gt; SQL Editor + Customizações;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 canto esquerdo informe as credenciais e seu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para conectar ao github</a:t>
            </a:r>
            <a:endParaRPr dirty="0"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3" descr="Tela de celular com aplicativo aberto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8768" y="2772728"/>
            <a:ext cx="3025402" cy="38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Mão na massa:</a:t>
            </a:r>
            <a:br>
              <a:rPr lang="pt-BR"/>
            </a:b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587827" y="1295400"/>
            <a:ext cx="1124494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 deverá ser semelhante à tela a seguir:</a:t>
            </a:r>
            <a:endParaRPr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4" descr="Interface gráfica do usuário, Aplicativo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2483" y="2137674"/>
            <a:ext cx="2994920" cy="4427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Mão na massa:</a:t>
            </a:r>
            <a:br>
              <a:rPr lang="pt-BR"/>
            </a:b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87827" y="1295400"/>
            <a:ext cx="11244944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Clicar na aba “Validações”;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 sessão “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Templates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 clicar em “Regra Vazia”;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Copie e cole o conteúdo do arquivo “meu_validador.py” disponibilizado no link da descrição da videoaula;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Sua tela deve ficar semelhante à imagem a seguir:</a:t>
            </a:r>
            <a:endParaRPr dirty="0"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5" descr="Texto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5057" y="2771774"/>
            <a:ext cx="8332685" cy="41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Mão na massa:</a:t>
            </a:r>
            <a:br>
              <a:rPr lang="pt-BR"/>
            </a:b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7827" y="1295400"/>
            <a:ext cx="1124494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Clicar no botão “Salvar” e em seguida no botão “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Deverá surgir a mensagem de confirmação a seguir: </a:t>
            </a:r>
            <a:endParaRPr dirty="0"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6" descr="Interface gráfica do usuário, Texto, Aplicativo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16560" y="2760004"/>
            <a:ext cx="7189267" cy="280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609832" cy="66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pt-BR" sz="4000"/>
              <a:t>Mão na massa:</a:t>
            </a:r>
            <a:br>
              <a:rPr lang="pt-BR"/>
            </a:b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87827" y="1295400"/>
            <a:ext cx="11244944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MyDataFlow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irá mostrar a mensagem de operação realizada com sucesso;</a:t>
            </a:r>
            <a:endParaRPr dirty="0"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AutoNum type="arabicPeriod"/>
            </a:pP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Não se esqueça de fazer o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via interface do sistema no final da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side</a:t>
            </a:r>
            <a:r>
              <a:rPr lang="pt-BR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-bar do </a:t>
            </a:r>
            <a:r>
              <a:rPr lang="pt-BR" sz="1800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dirty="0"/>
          </a:p>
          <a:p>
            <a:pPr marL="342900" marR="0" lvl="0" indent="-2286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8C3286BD-0F93-25C6-2226-EF060D80E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463" y="2218730"/>
            <a:ext cx="3703858" cy="46392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</a:pPr>
            <a:r>
              <a:rPr lang="pt-BR"/>
              <a:t>Fim da apresentação</a:t>
            </a:r>
            <a:endParaRPr/>
          </a:p>
        </p:txBody>
      </p:sp>
      <p:sp>
        <p:nvSpPr>
          <p:cNvPr id="137" name="Google Shape;137;p18"/>
          <p:cNvSpPr txBox="1"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pt-BR"/>
              <a:t>Adicione uma breve explicação do propósito da apresentação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rgbClr val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1303</Words>
  <Application>Microsoft Office PowerPoint</Application>
  <PresentationFormat>Widescreen</PresentationFormat>
  <Paragraphs>164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1" baseType="lpstr">
      <vt:lpstr>Arial</vt:lpstr>
      <vt:lpstr>Dune</vt:lpstr>
      <vt:lpstr>Customizando uma validação na Silver com MyDataFlow</vt:lpstr>
      <vt:lpstr>Por quê usar o MyDataFlow nesse Lab ? </vt:lpstr>
      <vt:lpstr>Herdando a superclasse RawToMedallionPipeline.py </vt:lpstr>
      <vt:lpstr>Herdando a superclasse RawToMedallionPipeline.py </vt:lpstr>
      <vt:lpstr>Herdando a superclasse RawToMedallionPipeline.py </vt:lpstr>
      <vt:lpstr>Importando bibliotecas necessárias </vt:lpstr>
      <vt:lpstr>Importando bibliotecas necessárias </vt:lpstr>
      <vt:lpstr>Importando bibliotecas necessárias </vt:lpstr>
      <vt:lpstr>Importando bibliotecas necessárias </vt:lpstr>
      <vt:lpstr>Entendendo os métodos </vt:lpstr>
      <vt:lpstr>Entendendo os métodos </vt:lpstr>
      <vt:lpstr>Entendendo os métodos </vt:lpstr>
      <vt:lpstr>Entendendo os métodos </vt:lpstr>
      <vt:lpstr>Mão na massa: </vt:lpstr>
      <vt:lpstr>Mão na massa: </vt:lpstr>
      <vt:lpstr>Mão na massa: </vt:lpstr>
      <vt:lpstr>Mão na massa: </vt:lpstr>
      <vt:lpstr>Mão na massa: </vt:lpstr>
      <vt:lpstr>Fim da apresentação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Márcio Barbosa Menezes do Nascimento</dc:creator>
  <cp:lastModifiedBy>Paulo Márcio Barbosa Menezes do Nascimento</cp:lastModifiedBy>
  <cp:revision>11</cp:revision>
  <dcterms:created xsi:type="dcterms:W3CDTF">2026-01-23T11:27:06Z</dcterms:created>
  <dcterms:modified xsi:type="dcterms:W3CDTF">2026-01-23T21:07:51Z</dcterms:modified>
</cp:coreProperties>
</file>